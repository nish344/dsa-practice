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13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the topic: Queues, a fundamental FIFO data structure, and set up that we'll build one from scratch in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everyday examples where order of arrival determines order of service. Ask the audience the highlight question before revealing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formal definition and the FIFO acronym, then walk through the box diagram: new elements enter at the rear, elements leave from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core operation and its purpose, then show visually what enqueue and dequeue do to the underlying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queue state transition live, ideally with a PowerPoint animation revealing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live-coding portion. In VS Code, build out the Queue class method by method: enqueue, dequeue, peek, isEmpty,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naive Python list performance vs collections.deque. Pose the interview question and let the audience think before explaining: list.pop(0) needs to shift all remaining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connecting queues to systems the audience already uses daily — printers, web servers, messaging systems — and algorithmic uses like BFS and CPU scheduling.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1280160"/>
            <a:ext cx="4754880" cy="4754880"/>
          </a:xfrm>
          <a:prstGeom prst="ellipse">
            <a:avLst/>
          </a:prstGeom>
          <a:solidFill>
            <a:srgbClr val="16296B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3291840"/>
            <a:ext cx="3291840" cy="32918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(FIFO)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Queue from Scratch with Python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59" y="3007919"/>
            <a:ext cx="311810" cy="31181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3081528"/>
            <a:ext cx="164592" cy="1645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527048" y="2880360"/>
            <a:ext cx="566928" cy="566928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607" y="3007919"/>
            <a:ext cx="311810" cy="311810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081528"/>
            <a:ext cx="164592" cy="16459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368296" y="2880360"/>
            <a:ext cx="566928" cy="566928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855" y="3007919"/>
            <a:ext cx="311810" cy="31181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88" y="3081528"/>
            <a:ext cx="164592" cy="164592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3209544" y="2880360"/>
            <a:ext cx="566928" cy="566928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103" y="3007919"/>
            <a:ext cx="311810" cy="311810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36" y="3081528"/>
            <a:ext cx="164592" cy="164592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4050792" y="2880360"/>
            <a:ext cx="566928" cy="566928"/>
          </a:xfrm>
          <a:prstGeom prst="ellipse">
            <a:avLst/>
          </a:prstGeom>
          <a:solidFill>
            <a:srgbClr val="2E4A9E"/>
          </a:solidFill>
          <a:ln/>
        </p:spPr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351" y="3007919"/>
            <a:ext cx="311810" cy="31181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94360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22" name="Text 11"/>
          <p:cNvSpPr/>
          <p:nvPr/>
        </p:nvSpPr>
        <p:spPr>
          <a:xfrm>
            <a:off x="3867912" y="3520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100" dirty="0"/>
          </a:p>
        </p:txBody>
      </p:sp>
      <p:sp>
        <p:nvSpPr>
          <p:cNvPr id="23" name="Text 12"/>
          <p:cNvSpPr/>
          <p:nvPr/>
        </p:nvSpPr>
        <p:spPr>
          <a:xfrm>
            <a:off x="640080" y="3840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standing in a queue — first to arrive, first to be served</a:t>
            </a:r>
            <a:endParaRPr lang="en-US" sz="1200" dirty="0"/>
          </a:p>
        </p:txBody>
      </p:sp>
      <p:sp>
        <p:nvSpPr>
          <p:cNvPr id="24" name="Text 13"/>
          <p:cNvSpPr/>
          <p:nvPr/>
        </p:nvSpPr>
        <p:spPr>
          <a:xfrm>
            <a:off x="640080" y="44348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Poddar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a Queue?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846320" cy="3246120"/>
          </a:xfrm>
          <a:prstGeom prst="roundRect">
            <a:avLst>
              <a:gd name="adj" fmla="val 2254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733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178650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55064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Counter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17" y="2444877"/>
            <a:ext cx="276606" cy="2766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31343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Queue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22960" y="299008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17" y="3103245"/>
            <a:ext cx="276606" cy="2766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971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22960" y="364845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17" y="3761613"/>
            <a:ext cx="276606" cy="27660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363016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Queue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822960" y="430682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17" y="4419981"/>
            <a:ext cx="276606" cy="27660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54480" y="4288536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Toll Booth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623560" y="1417320"/>
            <a:ext cx="2971800" cy="1874520"/>
          </a:xfrm>
          <a:prstGeom prst="roundRect">
            <a:avLst>
              <a:gd name="adj" fmla="val 3902"/>
            </a:avLst>
          </a:prstGeom>
          <a:solidFill>
            <a:srgbClr val="1E3A8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0" y="1618488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852160" y="20756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served first?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5852160" y="26060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</a:t>
            </a: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arrived first.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5623560" y="352044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5852160" y="3813048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5604" y="3936492"/>
            <a:ext cx="301752" cy="30175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537960" y="374904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in action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6537960" y="408736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arrived → first served</a:t>
            </a:r>
            <a:endParaRPr lang="en-US" sz="1150" dirty="0"/>
          </a:p>
        </p:txBody>
      </p:sp>
      <p:sp>
        <p:nvSpPr>
          <p:cNvPr id="29" name="Text 20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a </a:t>
            </a: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Queue?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1887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is a linear data structure that follows the </a:t>
            </a: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(First In, First Out)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97" y="221627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0848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— First In → First Out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inserted first is removed first.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2496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37376" y="2496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06040" y="2880360"/>
            <a:ext cx="868680" cy="685800"/>
          </a:xfrm>
          <a:prstGeom prst="rect">
            <a:avLst/>
          </a:prstGeom>
          <a:solidFill>
            <a:srgbClr val="D1FAE5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06040" y="28803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529584" y="2880360"/>
            <a:ext cx="868680" cy="685800"/>
          </a:xfrm>
          <a:prstGeom prst="rect">
            <a:avLst/>
          </a:prstGeom>
          <a:solidFill>
            <a:srgbClr val="E0E7FF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9584" y="28803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453128" y="2880360"/>
            <a:ext cx="868680" cy="685800"/>
          </a:xfrm>
          <a:prstGeom prst="rect">
            <a:avLst/>
          </a:prstGeom>
          <a:solidFill>
            <a:srgbClr val="E0E7FF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53128" y="28803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376672" y="2880360"/>
            <a:ext cx="868680" cy="685800"/>
          </a:xfrm>
          <a:prstGeom prst="rect">
            <a:avLst/>
          </a:prstGeom>
          <a:solidFill>
            <a:srgbClr val="E0E7FF"/>
          </a:solidFill>
          <a:ln w="15875">
            <a:solidFill>
              <a:srgbClr val="1E3A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76672" y="2880360"/>
            <a:ext cx="868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645920" y="3113532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3621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311353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25896" y="3621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41605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1E3A8A"/>
          </a:solidFill>
          <a:ln/>
        </p:spPr>
      </p:sp>
      <p:sp>
        <p:nvSpPr>
          <p:cNvPr id="23" name="Text 18"/>
          <p:cNvSpPr/>
          <p:nvPr/>
        </p:nvSpPr>
        <p:spPr>
          <a:xfrm>
            <a:off x="548640" y="4160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→ Rear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4754880" y="41605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</p:spPr>
      </p:sp>
      <p:sp>
        <p:nvSpPr>
          <p:cNvPr id="25" name="Text 20"/>
          <p:cNvSpPr/>
          <p:nvPr/>
        </p:nvSpPr>
        <p:spPr>
          <a:xfrm>
            <a:off x="4754880" y="4160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→ Front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Operations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enqueue(x)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an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front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peek()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front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isEmpty()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if queue is empty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elements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166360" y="10972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2"/>
          <p:cNvSpPr/>
          <p:nvPr/>
        </p:nvSpPr>
        <p:spPr>
          <a:xfrm>
            <a:off x="5394960" y="12070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enqueue(50)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394960" y="1536192"/>
            <a:ext cx="457200" cy="384048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94960" y="1536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88736" y="1536192"/>
            <a:ext cx="457200" cy="384048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88736" y="1536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82512" y="1536192"/>
            <a:ext cx="457200" cy="384048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82512" y="15361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1993392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394960" y="2286000"/>
            <a:ext cx="457200" cy="384048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394960" y="2286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888736" y="2286000"/>
            <a:ext cx="457200" cy="384048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88736" y="2286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382512" y="2286000"/>
            <a:ext cx="457200" cy="384048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82512" y="2286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876288" y="2286000"/>
            <a:ext cx="457200" cy="384048"/>
          </a:xfrm>
          <a:prstGeom prst="rect">
            <a:avLst/>
          </a:prstGeom>
          <a:solidFill>
            <a:srgbClr val="D1FAE5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76288" y="2286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166360" y="29260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3949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394960" y="3364992"/>
            <a:ext cx="457200" cy="384048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94960" y="3364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888736" y="3364992"/>
            <a:ext cx="457200" cy="384048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888736" y="3364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382512" y="3364992"/>
            <a:ext cx="457200" cy="384048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382512" y="33649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3822192"/>
            <a:ext cx="237744" cy="237744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5394960" y="4114800"/>
            <a:ext cx="457200" cy="384048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394960" y="4114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888736" y="4114800"/>
            <a:ext cx="457200" cy="384048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888736" y="4114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Visualization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state changes (animate each step in PowerPoint)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08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2043684"/>
            <a:ext cx="118872" cy="1645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83280" y="14173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520440" y="1508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enqueue(10)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984248"/>
            <a:ext cx="50292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1984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2043684"/>
            <a:ext cx="11887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17920" y="14173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355080" y="1508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enqueue(20)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040880" y="1984248"/>
            <a:ext cx="502920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040880" y="1984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589520" y="1984248"/>
            <a:ext cx="50292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589520" y="19842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30175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85800" y="3108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enqueue(30)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1097280" y="3584448"/>
            <a:ext cx="502920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97280" y="3584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1645920" y="3584448"/>
            <a:ext cx="502920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645920" y="3584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2194560" y="3584448"/>
            <a:ext cx="50292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194560" y="3584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264" y="3643884"/>
            <a:ext cx="118872" cy="164592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3383280" y="30175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3520440" y="3108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4206240" y="3584448"/>
            <a:ext cx="502920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206240" y="3584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4754880" y="3584448"/>
            <a:ext cx="502920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754880" y="3584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904" y="3643884"/>
            <a:ext cx="118872" cy="164592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217920" y="301752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6355080" y="31089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enqueue(40)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6766560" y="3584448"/>
            <a:ext cx="502920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766560" y="3584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7315200" y="3584448"/>
            <a:ext cx="502920" cy="457200"/>
          </a:xfrm>
          <a:prstGeom prst="rect">
            <a:avLst/>
          </a:prstGeom>
          <a:solidFill>
            <a:srgbClr val="E0E7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315200" y="3584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7863840" y="3584448"/>
            <a:ext cx="502920" cy="457200"/>
          </a:xfrm>
          <a:prstGeom prst="rect">
            <a:avLst/>
          </a:prstGeom>
          <a:solidFill>
            <a:srgbClr val="D1FAE5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7863840" y="3584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Implementation in Python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build a Queue that supports: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499616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99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02996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9293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2478024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56032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24597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peek()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" y="3008376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090672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29900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isEmpty()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48640" y="353872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621024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51560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size()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4480560" y="1417320"/>
            <a:ext cx="4114800" cy="2331720"/>
          </a:xfrm>
          <a:prstGeom prst="roundRect">
            <a:avLst>
              <a:gd name="adj" fmla="val 3922"/>
            </a:avLst>
          </a:prstGeom>
          <a:solidFill>
            <a:srgbClr val="0F1B3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709160" y="1618488"/>
            <a:ext cx="128016" cy="128016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21" name="Shape 14"/>
          <p:cNvSpPr/>
          <p:nvPr/>
        </p:nvSpPr>
        <p:spPr>
          <a:xfrm>
            <a:off x="4965192" y="1618488"/>
            <a:ext cx="128016" cy="128016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22" name="Shape 15"/>
          <p:cNvSpPr/>
          <p:nvPr/>
        </p:nvSpPr>
        <p:spPr>
          <a:xfrm>
            <a:off x="5221224" y="1618488"/>
            <a:ext cx="128016" cy="128016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23" name="Text 16"/>
          <p:cNvSpPr/>
          <p:nvPr/>
        </p:nvSpPr>
        <p:spPr>
          <a:xfrm>
            <a:off x="4754880" y="201168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Queue: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self.items = []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48640" y="41605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E3A8A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9768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34440" y="416052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in VS Code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4114800" cy="3017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enqueue()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dequeue()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peek()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isEmpty()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size()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O(1)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0" y="109728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D1FAE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230368" y="1280160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779" y="1366571"/>
            <a:ext cx="211226" cy="2112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0720" y="1280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provides collections.deque</a:t>
            </a:r>
            <a:endParaRPr lang="en-US" sz="1400" dirty="0"/>
          </a:p>
        </p:txBody>
      </p:sp>
      <p:sp>
        <p:nvSpPr>
          <p:cNvPr id="3" name="Text 4"/>
          <p:cNvSpPr/>
          <p:nvPr/>
        </p:nvSpPr>
        <p:spPr>
          <a:xfrm>
            <a:off x="5230368" y="1874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→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→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O(1)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029200" y="30175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1E3A8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230368" y="3218688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779" y="3305099"/>
            <a:ext cx="211226" cy="2112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60720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760720" y="34564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is list.pop(0) O(n)?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Queues Used?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170307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1305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Scheduling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46120" y="14173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29000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1870" y="17030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1305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 Requests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943600" y="14173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126480" y="16002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170307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80760" y="21305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2852928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1520" y="3035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" y="3138678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First Search (BFS)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3246120" y="2852928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429000" y="3035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1870" y="3138678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383280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5943600" y="2852928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6126480" y="3035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9350" y="3138678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080760" y="3566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Game Matchmaking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548640" y="4315968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E3A8A"/>
          </a:solidFill>
          <a:ln/>
        </p:spPr>
      </p:sp>
      <p:sp>
        <p:nvSpPr>
          <p:cNvPr id="29" name="Text 21"/>
          <p:cNvSpPr/>
          <p:nvPr/>
        </p:nvSpPr>
        <p:spPr>
          <a:xfrm>
            <a:off x="548640" y="43159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are used whenever </a:t>
            </a: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“First Come, First Served”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required.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87A0D8-F2E3-50B2-767D-E3B2F60494DF}"/>
              </a:ext>
            </a:extLst>
          </p:cNvPr>
          <p:cNvSpPr txBox="1"/>
          <p:nvPr/>
        </p:nvSpPr>
        <p:spPr>
          <a:xfrm>
            <a:off x="3210560" y="684107"/>
            <a:ext cx="2310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u="sng" dirty="0">
                <a:latin typeface="Aptos Display" panose="020B0004020202020204" pitchFamily="34" charset="0"/>
              </a:rPr>
              <a:t>SUMMARY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C748D9-D775-1A93-51CC-D1E74DBE9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078" y="1748718"/>
            <a:ext cx="4663844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35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605</Words>
  <Application>Microsoft Office PowerPoint</Application>
  <PresentationFormat>On-screen Show (16:9)</PresentationFormat>
  <Paragraphs>138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Queues (FIFO) - Data Structures &amp; Algorithms</dc:title>
  <dc:subject>PptxGenJS Presentation</dc:subject>
  <dc:creator>Rohan Poddar</dc:creator>
  <cp:lastModifiedBy>Rohan Poddar</cp:lastModifiedBy>
  <cp:revision>2</cp:revision>
  <dcterms:created xsi:type="dcterms:W3CDTF">2026-07-09T06:23:13Z</dcterms:created>
  <dcterms:modified xsi:type="dcterms:W3CDTF">2026-07-09T07:55:00Z</dcterms:modified>
</cp:coreProperties>
</file>